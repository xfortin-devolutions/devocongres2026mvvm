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8" r:id="rId3"/>
    <p:sldId id="262" r:id="rId4"/>
    <p:sldId id="263" r:id="rId5"/>
    <p:sldId id="264" r:id="rId6"/>
    <p:sldId id="259" r:id="rId7"/>
    <p:sldId id="265" r:id="rId8"/>
    <p:sldId id="266" r:id="rId9"/>
    <p:sldId id="267" r:id="rId10"/>
    <p:sldId id="268" r:id="rId11"/>
    <p:sldId id="269" r:id="rId12"/>
    <p:sldId id="261" r:id="rId13"/>
    <p:sldId id="257" r:id="rId14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527"/>
    <p:restoredTop sz="94694"/>
  </p:normalViewPr>
  <p:slideViewPr>
    <p:cSldViewPr snapToGrid="0">
      <p:cViewPr varScale="1">
        <p:scale>
          <a:sx n="140" d="100"/>
          <a:sy n="140" d="100"/>
        </p:scale>
        <p:origin x="65" y="9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FEC6E06-23A4-BB71-8AD0-DCC3B395CAD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CA"/>
              <a:t>Modifier le style du titre</a:t>
            </a:r>
            <a:endParaRPr lang="fr-FR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CB3DBDBB-A86D-8A31-EC1D-B2E807897E8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CA"/>
              <a:t>Modifier le style des sous-titres du masque</a:t>
            </a:r>
            <a:endParaRPr lang="fr-FR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3BC3AEB8-079F-9C06-A229-BFB9A3C958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FC094F-0AB0-BB45-BEA0-BBB587057A04}" type="datetimeFigureOut">
              <a:rPr lang="fr-FR" smtClean="0"/>
              <a:t>03/04/2025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79EAA52-AF7F-2038-4713-44430B0C35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FDA80BFE-FED7-6469-8182-D37D303A19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5A9968-C42C-B740-9921-D666A3542E0C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700796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17EA17D-09F5-E6F8-7779-D4159A96BE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/>
              <a:t>Modifier le style du titre</a:t>
            </a:r>
            <a:endParaRPr lang="fr-FR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553B702-6DBC-2EC0-CFF1-CAB48325BC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CA"/>
              <a:t>Cliquez pour modifier les styles du texte du masque</a:t>
            </a:r>
          </a:p>
          <a:p>
            <a:pPr lvl="1"/>
            <a:r>
              <a:rPr lang="fr-CA"/>
              <a:t>Deuxième niveau</a:t>
            </a:r>
          </a:p>
          <a:p>
            <a:pPr lvl="2"/>
            <a:r>
              <a:rPr lang="fr-CA"/>
              <a:t>Troisième niveau</a:t>
            </a:r>
          </a:p>
          <a:p>
            <a:pPr lvl="3"/>
            <a:r>
              <a:rPr lang="fr-CA"/>
              <a:t>Quatrième niveau</a:t>
            </a:r>
          </a:p>
          <a:p>
            <a:pPr lvl="4"/>
            <a:r>
              <a:rPr lang="fr-CA"/>
              <a:t>Cinquième niveau</a:t>
            </a:r>
            <a:endParaRPr lang="fr-FR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F17218ED-456E-543F-2D59-D3241F0C7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FC094F-0AB0-BB45-BEA0-BBB587057A04}" type="datetimeFigureOut">
              <a:rPr lang="fr-FR" smtClean="0"/>
              <a:t>03/04/2025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0970FC4E-F58F-AF93-2F6C-1E88FAACE8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E3D4E4A8-5816-B3A4-EB9A-D724D4DB27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5A9968-C42C-B740-9921-D666A3542E0C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92329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21BFE52-A4C8-1CF4-8FCD-D9FDFF62F0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CA"/>
              <a:t>Modifier le style du titre</a:t>
            </a:r>
            <a:endParaRPr lang="fr-FR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C88C21EB-0579-1E2C-3CA4-5A9C80B892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CA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A173476B-F91B-46B1-E19D-F60DF8F9F5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FC094F-0AB0-BB45-BEA0-BBB587057A04}" type="datetimeFigureOut">
              <a:rPr lang="fr-FR" smtClean="0"/>
              <a:t>03/04/2025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E38C445-C089-E5A6-674B-A0F233C9FE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CA5F2A25-EFEF-649A-8891-7DE6D149EC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5A9968-C42C-B740-9921-D666A3542E0C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235639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B18A444-2EDD-3BF0-CFFB-772F89FBAE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/>
              <a:t>Modifier le style du titre</a:t>
            </a:r>
            <a:endParaRPr lang="fr-FR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8CFAC7F-5CEA-48DA-C094-1F0FEBDE6CE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CA"/>
              <a:t>Cliquez pour modifier les styles du texte du masque</a:t>
            </a:r>
          </a:p>
          <a:p>
            <a:pPr lvl="1"/>
            <a:r>
              <a:rPr lang="fr-CA"/>
              <a:t>Deuxième niveau</a:t>
            </a:r>
          </a:p>
          <a:p>
            <a:pPr lvl="2"/>
            <a:r>
              <a:rPr lang="fr-CA"/>
              <a:t>Troisième niveau</a:t>
            </a:r>
          </a:p>
          <a:p>
            <a:pPr lvl="3"/>
            <a:r>
              <a:rPr lang="fr-CA"/>
              <a:t>Quatrième niveau</a:t>
            </a:r>
          </a:p>
          <a:p>
            <a:pPr lvl="4"/>
            <a:r>
              <a:rPr lang="fr-CA"/>
              <a:t>Cinquième niveau</a:t>
            </a:r>
            <a:endParaRPr lang="fr-FR"/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6E1D2BC5-F32A-7C1B-F7E1-AF9699E235C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CA"/>
              <a:t>Cliquez pour modifier les styles du texte du masque</a:t>
            </a:r>
          </a:p>
          <a:p>
            <a:pPr lvl="1"/>
            <a:r>
              <a:rPr lang="fr-CA"/>
              <a:t>Deuxième niveau</a:t>
            </a:r>
          </a:p>
          <a:p>
            <a:pPr lvl="2"/>
            <a:r>
              <a:rPr lang="fr-CA"/>
              <a:t>Troisième niveau</a:t>
            </a:r>
          </a:p>
          <a:p>
            <a:pPr lvl="3"/>
            <a:r>
              <a:rPr lang="fr-CA"/>
              <a:t>Quatrième niveau</a:t>
            </a:r>
          </a:p>
          <a:p>
            <a:pPr lvl="4"/>
            <a:r>
              <a:rPr lang="fr-CA"/>
              <a:t>Cinquième niveau</a:t>
            </a:r>
            <a:endParaRPr lang="fr-FR"/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740057A0-717B-D931-84D0-33AE231346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FC094F-0AB0-BB45-BEA0-BBB587057A04}" type="datetimeFigureOut">
              <a:rPr lang="fr-FR" smtClean="0"/>
              <a:t>03/04/2025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42A171DC-26FB-D9E2-2367-BE56AE78E0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4BFBB7DE-A178-B943-DA07-FF7B889ADD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5A9968-C42C-B740-9921-D666A3542E0C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37336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A2E2A64-7538-0835-84A9-3BE61A1DC0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CA"/>
              <a:t>Modifier le style du titre</a:t>
            </a:r>
            <a:endParaRPr lang="fr-FR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6B70C4B2-84A5-20A9-829A-E5F48DE44D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CA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A16C389B-CCD4-F374-B084-2734097C9F5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CA"/>
              <a:t>Cliquez pour modifier les styles du texte du masque</a:t>
            </a:r>
          </a:p>
          <a:p>
            <a:pPr lvl="1"/>
            <a:r>
              <a:rPr lang="fr-CA"/>
              <a:t>Deuxième niveau</a:t>
            </a:r>
          </a:p>
          <a:p>
            <a:pPr lvl="2"/>
            <a:r>
              <a:rPr lang="fr-CA"/>
              <a:t>Troisième niveau</a:t>
            </a:r>
          </a:p>
          <a:p>
            <a:pPr lvl="3"/>
            <a:r>
              <a:rPr lang="fr-CA"/>
              <a:t>Quatrième niveau</a:t>
            </a:r>
          </a:p>
          <a:p>
            <a:pPr lvl="4"/>
            <a:r>
              <a:rPr lang="fr-CA"/>
              <a:t>Cinquième niveau</a:t>
            </a:r>
            <a:endParaRPr lang="fr-FR"/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39DBC1BD-CAF3-BA08-2FF4-8D7AF9200D1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CA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76534ACA-9825-7BEB-E8DA-D0096028FC3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CA"/>
              <a:t>Cliquez pour modifier les styles du texte du masque</a:t>
            </a:r>
          </a:p>
          <a:p>
            <a:pPr lvl="1"/>
            <a:r>
              <a:rPr lang="fr-CA"/>
              <a:t>Deuxième niveau</a:t>
            </a:r>
          </a:p>
          <a:p>
            <a:pPr lvl="2"/>
            <a:r>
              <a:rPr lang="fr-CA"/>
              <a:t>Troisième niveau</a:t>
            </a:r>
          </a:p>
          <a:p>
            <a:pPr lvl="3"/>
            <a:r>
              <a:rPr lang="fr-CA"/>
              <a:t>Quatrième niveau</a:t>
            </a:r>
          </a:p>
          <a:p>
            <a:pPr lvl="4"/>
            <a:r>
              <a:rPr lang="fr-CA"/>
              <a:t>Cinquième niveau</a:t>
            </a:r>
            <a:endParaRPr lang="fr-FR"/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A07B0052-2DD3-6221-A851-3795BA5DAE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FC094F-0AB0-BB45-BEA0-BBB587057A04}" type="datetimeFigureOut">
              <a:rPr lang="fr-FR" smtClean="0"/>
              <a:t>03/04/2025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1CCE48E5-A3DD-1D98-D3B0-E2BE36FA22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A79720BD-A7F8-5449-1A33-F8AE87900E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5A9968-C42C-B740-9921-D666A3542E0C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70095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EBAEB55-8D9A-B324-C16C-697440D469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/>
              <a:t>Modifier le style du titre</a:t>
            </a:r>
            <a:endParaRPr lang="fr-FR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1ACFA6C7-7938-6AC8-E619-0CF99931BB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FC094F-0AB0-BB45-BEA0-BBB587057A04}" type="datetimeFigureOut">
              <a:rPr lang="fr-FR" smtClean="0"/>
              <a:t>03/04/2025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C72F8FF0-240C-84DD-C805-94B8710066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96346007-E5E1-EC99-1610-CBB5199F78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5A9968-C42C-B740-9921-D666A3542E0C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525009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793B51A7-15E2-0D56-B8A0-6D94CDEFEF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FC094F-0AB0-BB45-BEA0-BBB587057A04}" type="datetimeFigureOut">
              <a:rPr lang="fr-FR" smtClean="0"/>
              <a:t>03/04/2025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96FE9FBF-4AA9-E359-DE5C-B4B5D9AEC3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DCF5DF96-28F5-7905-EC49-8F46A2B63E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5A9968-C42C-B740-9921-D666A3542E0C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883971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6D0550C-9B8D-04A2-C881-E2B722F55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CA"/>
              <a:t>Modifier le style du titre</a:t>
            </a:r>
            <a:endParaRPr lang="fr-FR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C07A1F5-BA39-E4DD-FB5C-6DB62D4E60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CA"/>
              <a:t>Cliquez pour modifier les styles du texte du masque</a:t>
            </a:r>
          </a:p>
          <a:p>
            <a:pPr lvl="1"/>
            <a:r>
              <a:rPr lang="fr-CA"/>
              <a:t>Deuxième niveau</a:t>
            </a:r>
          </a:p>
          <a:p>
            <a:pPr lvl="2"/>
            <a:r>
              <a:rPr lang="fr-CA"/>
              <a:t>Troisième niveau</a:t>
            </a:r>
          </a:p>
          <a:p>
            <a:pPr lvl="3"/>
            <a:r>
              <a:rPr lang="fr-CA"/>
              <a:t>Quatrième niveau</a:t>
            </a:r>
          </a:p>
          <a:p>
            <a:pPr lvl="4"/>
            <a:r>
              <a:rPr lang="fr-CA"/>
              <a:t>Cinquième niveau</a:t>
            </a:r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62D44C54-D8F6-F861-99C7-C2F7592EB09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CA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7C9E1703-9CEF-4FE3-8605-276814BF88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FC094F-0AB0-BB45-BEA0-BBB587057A04}" type="datetimeFigureOut">
              <a:rPr lang="fr-FR" smtClean="0"/>
              <a:t>03/04/2025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7CE094CF-C789-2D4F-5E31-0867C03DAC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778FA2C7-7F46-09B8-BCBB-873E3DFDB5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5A9968-C42C-B740-9921-D666A3542E0C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157887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F705145-4879-A874-DDE5-93DC6757E0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CA"/>
              <a:t>Modifier le style du titre</a:t>
            </a:r>
            <a:endParaRPr lang="fr-FR"/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AD551C08-EABD-2ED1-4160-A7360FDF783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750D7FCF-C676-098B-725A-23338DDBB3A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CA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7AA91405-478C-3B41-6398-6BA6B8BEFA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FC094F-0AB0-BB45-BEA0-BBB587057A04}" type="datetimeFigureOut">
              <a:rPr lang="fr-FR" smtClean="0"/>
              <a:t>03/04/2025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8F6B498D-AD09-BB25-9E46-44B91470B0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0A6C3F1E-AFD1-8F54-5BDC-66EDBC5CFE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5A9968-C42C-B740-9921-D666A3542E0C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114012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C9A101C-8602-0739-3136-2D896AC401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/>
              <a:t>Modifier le style du titre</a:t>
            </a:r>
            <a:endParaRPr lang="fr-FR"/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2275EBBE-4E13-664B-F8FF-965B45C8EA7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CA"/>
              <a:t>Cliquez pour modifier les styles du texte du masque</a:t>
            </a:r>
          </a:p>
          <a:p>
            <a:pPr lvl="1"/>
            <a:r>
              <a:rPr lang="fr-CA"/>
              <a:t>Deuxième niveau</a:t>
            </a:r>
          </a:p>
          <a:p>
            <a:pPr lvl="2"/>
            <a:r>
              <a:rPr lang="fr-CA"/>
              <a:t>Troisième niveau</a:t>
            </a:r>
          </a:p>
          <a:p>
            <a:pPr lvl="3"/>
            <a:r>
              <a:rPr lang="fr-CA"/>
              <a:t>Quatrième niveau</a:t>
            </a:r>
          </a:p>
          <a:p>
            <a:pPr lvl="4"/>
            <a:r>
              <a:rPr lang="fr-CA"/>
              <a:t>Cinquième niveau</a:t>
            </a:r>
            <a:endParaRPr lang="fr-FR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203FFBD6-50FD-31F2-E5CC-2C5D8D55A5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FC094F-0AB0-BB45-BEA0-BBB587057A04}" type="datetimeFigureOut">
              <a:rPr lang="fr-FR" smtClean="0"/>
              <a:t>03/04/2025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E61C8A93-E83F-7A9A-762C-7F219C54C9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C57BECF6-4F89-6691-DF65-68D54FF31C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5A9968-C42C-B740-9921-D666A3542E0C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773500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5A8C53E9-76A8-86D2-A8F2-F1FC42CE0F6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CA"/>
              <a:t>Modifier le style du titre</a:t>
            </a:r>
            <a:endParaRPr lang="fr-FR"/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88DBA4CF-F1D0-160A-FE9A-4478373B744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CA"/>
              <a:t>Cliquez pour modifier les styles du texte du masque</a:t>
            </a:r>
          </a:p>
          <a:p>
            <a:pPr lvl="1"/>
            <a:r>
              <a:rPr lang="fr-CA"/>
              <a:t>Deuxième niveau</a:t>
            </a:r>
          </a:p>
          <a:p>
            <a:pPr lvl="2"/>
            <a:r>
              <a:rPr lang="fr-CA"/>
              <a:t>Troisième niveau</a:t>
            </a:r>
          </a:p>
          <a:p>
            <a:pPr lvl="3"/>
            <a:r>
              <a:rPr lang="fr-CA"/>
              <a:t>Quatrième niveau</a:t>
            </a:r>
          </a:p>
          <a:p>
            <a:pPr lvl="4"/>
            <a:r>
              <a:rPr lang="fr-CA"/>
              <a:t>Cinquième niveau</a:t>
            </a:r>
            <a:endParaRPr lang="fr-FR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C9B7A84E-F8DA-0B25-4321-78433BFD3D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FC094F-0AB0-BB45-BEA0-BBB587057A04}" type="datetimeFigureOut">
              <a:rPr lang="fr-FR" smtClean="0"/>
              <a:t>03/04/2025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ADF25117-FCFE-E8B7-2782-F15833F5B4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72B83C38-6056-1B35-2FB6-D86737061B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5A9968-C42C-B740-9921-D666A3542E0C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46133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76B8DB82-FDA8-0286-A2FE-D73CC01E85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CA"/>
              <a:t>Modifier le style du titre</a:t>
            </a:r>
            <a:endParaRPr lang="fr-FR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5AB6F8A5-6117-096B-8B71-B63AA2035C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CA"/>
              <a:t>Cliquez pour modifier les styles du texte du masque</a:t>
            </a:r>
          </a:p>
          <a:p>
            <a:pPr lvl="1"/>
            <a:r>
              <a:rPr lang="fr-CA"/>
              <a:t>Deuxième niveau</a:t>
            </a:r>
          </a:p>
          <a:p>
            <a:pPr lvl="2"/>
            <a:r>
              <a:rPr lang="fr-CA"/>
              <a:t>Troisième niveau</a:t>
            </a:r>
          </a:p>
          <a:p>
            <a:pPr lvl="3"/>
            <a:r>
              <a:rPr lang="fr-CA"/>
              <a:t>Quatrième niveau</a:t>
            </a:r>
          </a:p>
          <a:p>
            <a:pPr lvl="4"/>
            <a:r>
              <a:rPr lang="fr-CA"/>
              <a:t>Cinquième niveau</a:t>
            </a:r>
            <a:endParaRPr lang="fr-FR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D7347F24-2187-D1CE-EA20-C5DB826CCAD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7FC094F-0AB0-BB45-BEA0-BBB587057A04}" type="datetimeFigureOut">
              <a:rPr lang="fr-FR" smtClean="0"/>
              <a:t>03/04/2025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E8502B47-4499-2921-B852-F87EC7920CE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4CEB042C-D1E3-99D6-16E4-0234A6B9A83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85A9968-C42C-B740-9921-D666A3542E0C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657216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 7">
            <a:extLst>
              <a:ext uri="{FF2B5EF4-FFF2-40B4-BE49-F238E27FC236}">
                <a16:creationId xmlns:a16="http://schemas.microsoft.com/office/drawing/2014/main" id="{258779B7-0444-97A2-18D3-0C97761D61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673"/>
            <a:ext cx="12192000" cy="6858000"/>
          </a:xfrm>
          <a:prstGeom prst="rect">
            <a:avLst/>
          </a:prstGeom>
        </p:spPr>
      </p:pic>
      <p:sp>
        <p:nvSpPr>
          <p:cNvPr id="6" name="ZoneTexte 5">
            <a:extLst>
              <a:ext uri="{FF2B5EF4-FFF2-40B4-BE49-F238E27FC236}">
                <a16:creationId xmlns:a16="http://schemas.microsoft.com/office/drawing/2014/main" id="{0F3EACB5-3B67-1EA9-8912-32EDF9974C77}"/>
              </a:ext>
            </a:extLst>
          </p:cNvPr>
          <p:cNvSpPr txBox="1"/>
          <p:nvPr/>
        </p:nvSpPr>
        <p:spPr>
          <a:xfrm>
            <a:off x="6200775" y="2565624"/>
            <a:ext cx="4829175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60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Ça mange quoi en hiver, un PAM?</a:t>
            </a:r>
          </a:p>
          <a:p>
            <a:r>
              <a:rPr lang="en-US" sz="2800" b="1" i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What does a PAM eat in winter?</a:t>
            </a:r>
            <a:endParaRPr lang="fr-FR" sz="2800" b="1" i="1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625369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Image 10">
            <a:extLst>
              <a:ext uri="{FF2B5EF4-FFF2-40B4-BE49-F238E27FC236}">
                <a16:creationId xmlns:a16="http://schemas.microsoft.com/office/drawing/2014/main" id="{3FAB0D78-012A-7285-79DC-EFBD8F6A20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ZoneTexte 1">
            <a:extLst>
              <a:ext uri="{FF2B5EF4-FFF2-40B4-BE49-F238E27FC236}">
                <a16:creationId xmlns:a16="http://schemas.microsoft.com/office/drawing/2014/main" id="{34B3560C-E53F-3AB7-29B8-617D70B365DD}"/>
              </a:ext>
            </a:extLst>
          </p:cNvPr>
          <p:cNvSpPr txBox="1"/>
          <p:nvPr/>
        </p:nvSpPr>
        <p:spPr>
          <a:xfrm>
            <a:off x="785811" y="428627"/>
            <a:ext cx="1022985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20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PAM – C’est complexe, mais pas trop.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F77DE0BE-EE82-5A11-3029-C13A4062DF7B}"/>
              </a:ext>
            </a:extLst>
          </p:cNvPr>
          <p:cNvSpPr txBox="1"/>
          <p:nvPr/>
        </p:nvSpPr>
        <p:spPr>
          <a:xfrm>
            <a:off x="785811" y="1779123"/>
            <a:ext cx="10229850" cy="29238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PAM = </a:t>
            </a:r>
            <a:r>
              <a:rPr lang="fr-FR" sz="2400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Privileged</a:t>
            </a:r>
            <a:r>
              <a:rPr lang="fr-FR" sz="2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Access Management</a:t>
            </a:r>
          </a:p>
          <a:p>
            <a:endParaRPr lang="fr-FR" sz="24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r>
              <a:rPr lang="fr-FR" sz="2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Une solution PAM (</a:t>
            </a:r>
            <a:r>
              <a:rPr lang="fr-FR" sz="2400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Privileged</a:t>
            </a:r>
            <a:r>
              <a:rPr lang="fr-FR" sz="2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Access Management) est un ensemble d’outils et de pratiques conçus pour sécuriser, contrôler et superviser l’accès aux comptes à privilèges.</a:t>
            </a:r>
          </a:p>
          <a:p>
            <a:endParaRPr lang="fr-FR" sz="24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r>
              <a:rPr lang="en-US" sz="2000" i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 PAM (Privileged Access Management) solution is a set of tools and practices designed to secure, control, and monitor access to privileged accounts.</a:t>
            </a:r>
            <a:endParaRPr lang="fr-FR" sz="2000" i="1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cxnSp>
        <p:nvCxnSpPr>
          <p:cNvPr id="6" name="Connecteur droit 5">
            <a:extLst>
              <a:ext uri="{FF2B5EF4-FFF2-40B4-BE49-F238E27FC236}">
                <a16:creationId xmlns:a16="http://schemas.microsoft.com/office/drawing/2014/main" id="{66236D66-5305-5652-C277-07FA33C14D0D}"/>
              </a:ext>
            </a:extLst>
          </p:cNvPr>
          <p:cNvCxnSpPr/>
          <p:nvPr/>
        </p:nvCxnSpPr>
        <p:spPr>
          <a:xfrm>
            <a:off x="900111" y="1228727"/>
            <a:ext cx="7129463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98250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E72F9D-79C3-B9C4-E2BF-A6C3D3973B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Image 10">
            <a:extLst>
              <a:ext uri="{FF2B5EF4-FFF2-40B4-BE49-F238E27FC236}">
                <a16:creationId xmlns:a16="http://schemas.microsoft.com/office/drawing/2014/main" id="{CA066A60-DD2F-097B-F947-42FC63DC27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ZoneTexte 1">
            <a:extLst>
              <a:ext uri="{FF2B5EF4-FFF2-40B4-BE49-F238E27FC236}">
                <a16:creationId xmlns:a16="http://schemas.microsoft.com/office/drawing/2014/main" id="{FFB8DCDE-209F-CC73-7E3A-EA5DC380CE48}"/>
              </a:ext>
            </a:extLst>
          </p:cNvPr>
          <p:cNvSpPr txBox="1"/>
          <p:nvPr/>
        </p:nvSpPr>
        <p:spPr>
          <a:xfrm>
            <a:off x="785811" y="428627"/>
            <a:ext cx="1022985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20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Privilèges?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B5C190C5-E32D-14D2-18F2-29D528225655}"/>
              </a:ext>
            </a:extLst>
          </p:cNvPr>
          <p:cNvSpPr txBox="1"/>
          <p:nvPr/>
        </p:nvSpPr>
        <p:spPr>
          <a:xfrm>
            <a:off x="785811" y="1429501"/>
            <a:ext cx="10229850" cy="52014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Privilèges = Accès ou permissions</a:t>
            </a:r>
          </a:p>
          <a:p>
            <a:r>
              <a:rPr lang="en-US" sz="2000" i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Privileges = Access or permissions</a:t>
            </a:r>
            <a:endParaRPr lang="fr-FR" sz="20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endParaRPr lang="fr-FR" sz="24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r>
              <a:rPr lang="fr-FR" sz="2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Question pour le public:</a:t>
            </a:r>
          </a:p>
          <a:p>
            <a:r>
              <a:rPr lang="fr-FR" sz="2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Pouvez-vous me donner quelques exemples de comptes avec de « haut » privilèges?</a:t>
            </a:r>
          </a:p>
          <a:p>
            <a:r>
              <a:rPr lang="en-US" sz="2000" i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Question for the audience: Could you give me some examples of accounts with “high” privileges?</a:t>
            </a:r>
            <a:endParaRPr lang="fr-FR" sz="20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endParaRPr lang="fr-FR" sz="24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r>
              <a:rPr lang="fr-FR" sz="2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Réponse:</a:t>
            </a:r>
          </a:p>
          <a:p>
            <a:r>
              <a:rPr lang="fr-FR" sz="2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Tous les identifiants d’une business ont des privilèges</a:t>
            </a:r>
          </a:p>
          <a:p>
            <a:r>
              <a:rPr lang="en-US" sz="2000" i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Answer: All of a business’s credentials have privileges.</a:t>
            </a:r>
            <a:endParaRPr lang="fr-FR" sz="2000" i="1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endParaRPr lang="fr-FR" sz="24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endParaRPr lang="fr-FR" sz="24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cxnSp>
        <p:nvCxnSpPr>
          <p:cNvPr id="6" name="Connecteur droit 5">
            <a:extLst>
              <a:ext uri="{FF2B5EF4-FFF2-40B4-BE49-F238E27FC236}">
                <a16:creationId xmlns:a16="http://schemas.microsoft.com/office/drawing/2014/main" id="{94B38C3D-F8C0-79FD-8F2D-3B3251F6A5CC}"/>
              </a:ext>
            </a:extLst>
          </p:cNvPr>
          <p:cNvCxnSpPr/>
          <p:nvPr/>
        </p:nvCxnSpPr>
        <p:spPr>
          <a:xfrm>
            <a:off x="900111" y="1228727"/>
            <a:ext cx="7129463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483749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804BF3-B4E2-BBB6-4358-887C4DF8BE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Image 10">
            <a:extLst>
              <a:ext uri="{FF2B5EF4-FFF2-40B4-BE49-F238E27FC236}">
                <a16:creationId xmlns:a16="http://schemas.microsoft.com/office/drawing/2014/main" id="{56AE28B2-3DB3-B896-7E4B-A51D5F8094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ZoneTexte 1">
            <a:extLst>
              <a:ext uri="{FF2B5EF4-FFF2-40B4-BE49-F238E27FC236}">
                <a16:creationId xmlns:a16="http://schemas.microsoft.com/office/drawing/2014/main" id="{217B684E-040D-47AA-96B9-6E1CD4CD3F1F}"/>
              </a:ext>
            </a:extLst>
          </p:cNvPr>
          <p:cNvSpPr txBox="1"/>
          <p:nvPr/>
        </p:nvSpPr>
        <p:spPr>
          <a:xfrm>
            <a:off x="785811" y="428627"/>
            <a:ext cx="1022985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20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Donc tous les identifiants vont dans le PAM?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6A477B93-B0A1-6526-6650-45922E8B4324}"/>
              </a:ext>
            </a:extLst>
          </p:cNvPr>
          <p:cNvSpPr txBox="1"/>
          <p:nvPr/>
        </p:nvSpPr>
        <p:spPr>
          <a:xfrm>
            <a:off x="785811" y="1779123"/>
            <a:ext cx="10229850" cy="21852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Réponse courte: non.</a:t>
            </a:r>
          </a:p>
          <a:p>
            <a:r>
              <a:rPr lang="en-US" sz="2000" i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Short answer: no.</a:t>
            </a:r>
            <a:endParaRPr lang="fr-FR" sz="20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endParaRPr lang="fr-FR" sz="24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r>
              <a:rPr lang="fr-FR" sz="2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Réponse longue: C’est acceptable comme risque de seulement cibler les identifiants critiques</a:t>
            </a:r>
          </a:p>
          <a:p>
            <a:r>
              <a:rPr lang="en-US" sz="2000" i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Long answer: It’s acceptable as a risk to only target the critical credentials.</a:t>
            </a:r>
            <a:endParaRPr lang="fr-FR" sz="2000" i="1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cxnSp>
        <p:nvCxnSpPr>
          <p:cNvPr id="6" name="Connecteur droit 5">
            <a:extLst>
              <a:ext uri="{FF2B5EF4-FFF2-40B4-BE49-F238E27FC236}">
                <a16:creationId xmlns:a16="http://schemas.microsoft.com/office/drawing/2014/main" id="{737114A0-0A6D-1D8D-EA35-14149CD85CCF}"/>
              </a:ext>
            </a:extLst>
          </p:cNvPr>
          <p:cNvCxnSpPr/>
          <p:nvPr/>
        </p:nvCxnSpPr>
        <p:spPr>
          <a:xfrm>
            <a:off x="900111" y="1228727"/>
            <a:ext cx="7129463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038860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938CA5-6130-287C-255A-89010C3F77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Image 10">
            <a:extLst>
              <a:ext uri="{FF2B5EF4-FFF2-40B4-BE49-F238E27FC236}">
                <a16:creationId xmlns:a16="http://schemas.microsoft.com/office/drawing/2014/main" id="{4E9E7817-C49C-33E0-AEBE-CC94B6D7B2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ZoneTexte 1">
            <a:extLst>
              <a:ext uri="{FF2B5EF4-FFF2-40B4-BE49-F238E27FC236}">
                <a16:creationId xmlns:a16="http://schemas.microsoft.com/office/drawing/2014/main" id="{1A52AC4E-355C-B8B1-804F-FBD9DF72056E}"/>
              </a:ext>
            </a:extLst>
          </p:cNvPr>
          <p:cNvSpPr txBox="1"/>
          <p:nvPr/>
        </p:nvSpPr>
        <p:spPr>
          <a:xfrm>
            <a:off x="785811" y="428627"/>
            <a:ext cx="1080566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20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On fait quoi avec les identifiants dans le PAM?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646DF3A7-4327-369D-916F-4539FC743ADD}"/>
              </a:ext>
            </a:extLst>
          </p:cNvPr>
          <p:cNvSpPr txBox="1"/>
          <p:nvPr/>
        </p:nvSpPr>
        <p:spPr>
          <a:xfrm>
            <a:off x="785811" y="1335372"/>
            <a:ext cx="10229850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6 choses qu’une solution PAM fait avec les identifiants:</a:t>
            </a:r>
          </a:p>
          <a:p>
            <a:r>
              <a:rPr lang="en-US" sz="2000" i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6 things a PAM solution does with credentials:</a:t>
            </a:r>
            <a:endParaRPr lang="fr-FR" sz="2000" i="1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fr-FR" sz="2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Stockage de manière sécurisé (Coffres / </a:t>
            </a:r>
            <a:r>
              <a:rPr lang="fr-FR" sz="2400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Vaults</a:t>
            </a:r>
            <a:r>
              <a:rPr lang="fr-FR" sz="2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)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fr-FR" sz="2000" i="1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Provides</a:t>
            </a:r>
            <a:r>
              <a:rPr lang="fr-FR" sz="2000" i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fr-FR" sz="2000" i="1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secure</a:t>
            </a:r>
            <a:r>
              <a:rPr lang="fr-FR" sz="2000" i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fr-FR" sz="2000" i="1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storage</a:t>
            </a:r>
            <a:r>
              <a:rPr lang="fr-FR" sz="2000" i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(</a:t>
            </a:r>
            <a:r>
              <a:rPr lang="fr-FR" sz="2000" i="1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vaults</a:t>
            </a:r>
            <a:r>
              <a:rPr lang="fr-FR" sz="2000" i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)</a:t>
            </a:r>
            <a:endParaRPr lang="fr-FR" sz="2400" i="1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fr-FR" sz="2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Gestion de la rotation et la complexité des mots de passes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US" sz="2000" i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Manages password rotation and complexity</a:t>
            </a:r>
            <a:endParaRPr lang="fr-FR" sz="2000" i="1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fr-FR" sz="2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Contrôle de l’accès de manière granulaire (RBAC)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fr-FR" sz="2000" i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Enforces </a:t>
            </a:r>
            <a:r>
              <a:rPr lang="fr-FR" sz="2000" i="1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granular</a:t>
            </a:r>
            <a:r>
              <a:rPr lang="fr-FR" sz="2000" i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fr-FR" sz="2000" i="1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access</a:t>
            </a:r>
            <a:r>
              <a:rPr lang="fr-FR" sz="2000" i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control (RBAC)</a:t>
            </a:r>
            <a:endParaRPr lang="fr-FR" sz="2400" i="1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fr-FR" sz="2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Surveillance et traçabilité des sessions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US" sz="2000" i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Monitors and ensures session traceability</a:t>
            </a:r>
            <a:endParaRPr lang="fr-FR" sz="2000" i="1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fr-FR" sz="2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Processus d’approbation de l’utilisation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US" sz="2000" i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Enforce approval workflow</a:t>
            </a:r>
            <a:endParaRPr lang="fr-FR" sz="2400" i="1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fr-FR" sz="2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Logs, audit et rapports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US" sz="2000" i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Generates logs, audits, and reports</a:t>
            </a:r>
            <a:endParaRPr lang="fr-FR" sz="2000" i="1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lvl="1"/>
            <a:endParaRPr lang="fr-FR" sz="24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fr-FR" sz="24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cxnSp>
        <p:nvCxnSpPr>
          <p:cNvPr id="6" name="Connecteur droit 5">
            <a:extLst>
              <a:ext uri="{FF2B5EF4-FFF2-40B4-BE49-F238E27FC236}">
                <a16:creationId xmlns:a16="http://schemas.microsoft.com/office/drawing/2014/main" id="{DA0F626B-E577-7A8C-220A-99516074F949}"/>
              </a:ext>
            </a:extLst>
          </p:cNvPr>
          <p:cNvCxnSpPr/>
          <p:nvPr/>
        </p:nvCxnSpPr>
        <p:spPr>
          <a:xfrm>
            <a:off x="900111" y="1228727"/>
            <a:ext cx="7129463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83443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 7">
            <a:extLst>
              <a:ext uri="{FF2B5EF4-FFF2-40B4-BE49-F238E27FC236}">
                <a16:creationId xmlns:a16="http://schemas.microsoft.com/office/drawing/2014/main" id="{F807CF1D-4063-A806-BD9A-74261D04BB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4011"/>
            <a:ext cx="12192000" cy="6858000"/>
          </a:xfrm>
          <a:prstGeom prst="rect">
            <a:avLst/>
          </a:prstGeom>
        </p:spPr>
      </p:pic>
      <p:sp>
        <p:nvSpPr>
          <p:cNvPr id="3" name="ZoneTexte 2">
            <a:extLst>
              <a:ext uri="{FF2B5EF4-FFF2-40B4-BE49-F238E27FC236}">
                <a16:creationId xmlns:a16="http://schemas.microsoft.com/office/drawing/2014/main" id="{3A70588D-89D0-50A9-8014-AC9884461C2F}"/>
              </a:ext>
            </a:extLst>
          </p:cNvPr>
          <p:cNvSpPr txBox="1"/>
          <p:nvPr/>
        </p:nvSpPr>
        <p:spPr>
          <a:xfrm>
            <a:off x="785811" y="428627"/>
            <a:ext cx="1022985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20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Example concret dans Devolutions PAM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AE9FB49D-F638-5F06-5FD6-CBDF07953A4B}"/>
              </a:ext>
            </a:extLst>
          </p:cNvPr>
          <p:cNvSpPr txBox="1"/>
          <p:nvPr/>
        </p:nvSpPr>
        <p:spPr>
          <a:xfrm>
            <a:off x="785811" y="1059585"/>
            <a:ext cx="1022985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Stockage sécurisé</a:t>
            </a:r>
          </a:p>
          <a:p>
            <a:r>
              <a:rPr lang="fr-FR" sz="2000" i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Secure </a:t>
            </a:r>
            <a:r>
              <a:rPr lang="fr-FR" sz="2000" i="1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storage</a:t>
            </a:r>
            <a:endParaRPr lang="fr-FR" sz="2400" i="1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96AB428-AED0-AB7A-525F-B00390EAE1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3465" y="1867961"/>
            <a:ext cx="4482804" cy="47685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78536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1A1745-DBE0-4D84-3F7F-1F8D0E0F02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 7">
            <a:extLst>
              <a:ext uri="{FF2B5EF4-FFF2-40B4-BE49-F238E27FC236}">
                <a16:creationId xmlns:a16="http://schemas.microsoft.com/office/drawing/2014/main" id="{459A76CC-4181-3CC1-B3D2-2AF816DB48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4011"/>
            <a:ext cx="12192000" cy="6858000"/>
          </a:xfrm>
          <a:prstGeom prst="rect">
            <a:avLst/>
          </a:prstGeom>
        </p:spPr>
      </p:pic>
      <p:sp>
        <p:nvSpPr>
          <p:cNvPr id="3" name="ZoneTexte 2">
            <a:extLst>
              <a:ext uri="{FF2B5EF4-FFF2-40B4-BE49-F238E27FC236}">
                <a16:creationId xmlns:a16="http://schemas.microsoft.com/office/drawing/2014/main" id="{D8D42F6E-CABA-8860-DEAB-A479BBDBDBBA}"/>
              </a:ext>
            </a:extLst>
          </p:cNvPr>
          <p:cNvSpPr txBox="1"/>
          <p:nvPr/>
        </p:nvSpPr>
        <p:spPr>
          <a:xfrm>
            <a:off x="785811" y="428627"/>
            <a:ext cx="1022985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20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Example concret dans Devolutions PAM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840CACF2-AA14-7783-B39F-28265A0163A9}"/>
              </a:ext>
            </a:extLst>
          </p:cNvPr>
          <p:cNvSpPr txBox="1"/>
          <p:nvPr/>
        </p:nvSpPr>
        <p:spPr>
          <a:xfrm>
            <a:off x="785811" y="1341972"/>
            <a:ext cx="1022985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Gestion de la rotation et de la complexité des mots de passe</a:t>
            </a:r>
          </a:p>
          <a:p>
            <a:r>
              <a:rPr lang="en-US" sz="2000" i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Manages password rotation and complexity</a:t>
            </a:r>
            <a:endParaRPr lang="fr-FR" sz="2400" i="1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98EA49B-A111-D7A8-BE54-5E907CE715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7518" y="2522732"/>
            <a:ext cx="7846568" cy="22643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35172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E59428-0656-AA12-B5CA-59EA7DBF54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 7">
            <a:extLst>
              <a:ext uri="{FF2B5EF4-FFF2-40B4-BE49-F238E27FC236}">
                <a16:creationId xmlns:a16="http://schemas.microsoft.com/office/drawing/2014/main" id="{57E16492-E8E5-5D2C-1AD3-410FF21B11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4011"/>
            <a:ext cx="12192000" cy="6858000"/>
          </a:xfrm>
          <a:prstGeom prst="rect">
            <a:avLst/>
          </a:prstGeom>
        </p:spPr>
      </p:pic>
      <p:sp>
        <p:nvSpPr>
          <p:cNvPr id="3" name="ZoneTexte 2">
            <a:extLst>
              <a:ext uri="{FF2B5EF4-FFF2-40B4-BE49-F238E27FC236}">
                <a16:creationId xmlns:a16="http://schemas.microsoft.com/office/drawing/2014/main" id="{EC31174D-59AE-A851-68D8-BBA95E10C7ED}"/>
              </a:ext>
            </a:extLst>
          </p:cNvPr>
          <p:cNvSpPr txBox="1"/>
          <p:nvPr/>
        </p:nvSpPr>
        <p:spPr>
          <a:xfrm>
            <a:off x="785811" y="428627"/>
            <a:ext cx="1022985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20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Example concret dans Devolutions PAM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2296CE2C-C4E5-FC66-6FF7-CD7EB6A6141E}"/>
              </a:ext>
            </a:extLst>
          </p:cNvPr>
          <p:cNvSpPr txBox="1"/>
          <p:nvPr/>
        </p:nvSpPr>
        <p:spPr>
          <a:xfrm>
            <a:off x="785811" y="1341972"/>
            <a:ext cx="1022985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Contrôle de l’accès granulaire – RBAC</a:t>
            </a:r>
          </a:p>
          <a:p>
            <a:r>
              <a:rPr lang="fr-FR" sz="2000" i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Enforces </a:t>
            </a:r>
            <a:r>
              <a:rPr lang="fr-FR" sz="2000" i="1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granular</a:t>
            </a:r>
            <a:r>
              <a:rPr lang="fr-FR" sz="2000" i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fr-FR" sz="2000" i="1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access</a:t>
            </a:r>
            <a:r>
              <a:rPr lang="fr-FR" sz="2000" i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control (RBAC)</a:t>
            </a:r>
            <a:endParaRPr lang="fr-FR" sz="2400" i="1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E7068FB-E605-6876-537A-65D60DDEE8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3447" y="2244917"/>
            <a:ext cx="5963386" cy="45206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80216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B22D11-A79B-FA41-D68E-56B1624BAA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 7">
            <a:extLst>
              <a:ext uri="{FF2B5EF4-FFF2-40B4-BE49-F238E27FC236}">
                <a16:creationId xmlns:a16="http://schemas.microsoft.com/office/drawing/2014/main" id="{BFD354D7-9E91-591C-1B7C-E3697FA542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4011"/>
            <a:ext cx="12192000" cy="6858000"/>
          </a:xfrm>
          <a:prstGeom prst="rect">
            <a:avLst/>
          </a:prstGeom>
        </p:spPr>
      </p:pic>
      <p:sp>
        <p:nvSpPr>
          <p:cNvPr id="3" name="ZoneTexte 2">
            <a:extLst>
              <a:ext uri="{FF2B5EF4-FFF2-40B4-BE49-F238E27FC236}">
                <a16:creationId xmlns:a16="http://schemas.microsoft.com/office/drawing/2014/main" id="{9BBAEEDB-0BC0-78FB-FD6C-CDC954DC7FCC}"/>
              </a:ext>
            </a:extLst>
          </p:cNvPr>
          <p:cNvSpPr txBox="1"/>
          <p:nvPr/>
        </p:nvSpPr>
        <p:spPr>
          <a:xfrm>
            <a:off x="785811" y="428627"/>
            <a:ext cx="1022985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20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Example concret dans Devolutions PAM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22393F31-C945-76B3-E6D6-164EDAB8B9ED}"/>
              </a:ext>
            </a:extLst>
          </p:cNvPr>
          <p:cNvSpPr txBox="1"/>
          <p:nvPr/>
        </p:nvSpPr>
        <p:spPr>
          <a:xfrm>
            <a:off x="785811" y="1086479"/>
            <a:ext cx="1022985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Surveillance et traçabilité des sessions</a:t>
            </a:r>
          </a:p>
          <a:p>
            <a:r>
              <a:rPr lang="en-US" sz="2000" i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Monitors and ensures session traceability</a:t>
            </a:r>
            <a:endParaRPr lang="fr-FR" sz="2400" i="1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EB157A4-4AAD-C1DE-F184-48FF508FD7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132207"/>
            <a:ext cx="7610669" cy="33220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45066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15268C-CE1A-D1BD-1AD6-A1D6C6BD5E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 7">
            <a:extLst>
              <a:ext uri="{FF2B5EF4-FFF2-40B4-BE49-F238E27FC236}">
                <a16:creationId xmlns:a16="http://schemas.microsoft.com/office/drawing/2014/main" id="{9791DA59-25BF-EA64-4175-9C55F63269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4011"/>
            <a:ext cx="12192000" cy="6858000"/>
          </a:xfrm>
          <a:prstGeom prst="rect">
            <a:avLst/>
          </a:prstGeom>
        </p:spPr>
      </p:pic>
      <p:sp>
        <p:nvSpPr>
          <p:cNvPr id="3" name="ZoneTexte 2">
            <a:extLst>
              <a:ext uri="{FF2B5EF4-FFF2-40B4-BE49-F238E27FC236}">
                <a16:creationId xmlns:a16="http://schemas.microsoft.com/office/drawing/2014/main" id="{CE52622A-4981-4163-51EB-1380651FCDF5}"/>
              </a:ext>
            </a:extLst>
          </p:cNvPr>
          <p:cNvSpPr txBox="1"/>
          <p:nvPr/>
        </p:nvSpPr>
        <p:spPr>
          <a:xfrm>
            <a:off x="785811" y="428627"/>
            <a:ext cx="1022985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20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Example concret dans Devolutions PAM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0727D832-DB34-FF85-11BA-E243F68DA597}"/>
              </a:ext>
            </a:extLst>
          </p:cNvPr>
          <p:cNvSpPr txBox="1"/>
          <p:nvPr/>
        </p:nvSpPr>
        <p:spPr>
          <a:xfrm>
            <a:off x="785811" y="978903"/>
            <a:ext cx="1022985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Processus d’approbation de l’utilisation</a:t>
            </a:r>
          </a:p>
          <a:p>
            <a:r>
              <a:rPr lang="en-US" sz="2000" i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Enforce approval workflow</a:t>
            </a:r>
            <a:endParaRPr lang="fr-FR" sz="24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9515484-7A05-42C1-FE45-D8CAD72393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80627" y="1971452"/>
            <a:ext cx="3911028" cy="48865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79094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65A64A-2D59-60F4-48BB-ACC9A9CEA6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 7">
            <a:extLst>
              <a:ext uri="{FF2B5EF4-FFF2-40B4-BE49-F238E27FC236}">
                <a16:creationId xmlns:a16="http://schemas.microsoft.com/office/drawing/2014/main" id="{74C0B413-C263-BA6B-1039-DC29B1E65C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4011"/>
            <a:ext cx="12192000" cy="6858000"/>
          </a:xfrm>
          <a:prstGeom prst="rect">
            <a:avLst/>
          </a:prstGeom>
        </p:spPr>
      </p:pic>
      <p:sp>
        <p:nvSpPr>
          <p:cNvPr id="3" name="ZoneTexte 2">
            <a:extLst>
              <a:ext uri="{FF2B5EF4-FFF2-40B4-BE49-F238E27FC236}">
                <a16:creationId xmlns:a16="http://schemas.microsoft.com/office/drawing/2014/main" id="{0068E874-0894-BE48-D79C-62BE10049F51}"/>
              </a:ext>
            </a:extLst>
          </p:cNvPr>
          <p:cNvSpPr txBox="1"/>
          <p:nvPr/>
        </p:nvSpPr>
        <p:spPr>
          <a:xfrm>
            <a:off x="785811" y="428627"/>
            <a:ext cx="1022985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20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Example concret dans Devolutions PAM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C1F5D02F-8718-10DC-53A0-9C628A558F27}"/>
              </a:ext>
            </a:extLst>
          </p:cNvPr>
          <p:cNvSpPr txBox="1"/>
          <p:nvPr/>
        </p:nvSpPr>
        <p:spPr>
          <a:xfrm>
            <a:off x="785811" y="1059585"/>
            <a:ext cx="1022985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Logs, audit et rapports</a:t>
            </a:r>
          </a:p>
          <a:p>
            <a:r>
              <a:rPr lang="fr-FR" sz="2000" i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logs, audits, and reports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0DB9E66-89B2-F565-C0E4-EC4BC3496D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3116" y="1914905"/>
            <a:ext cx="6861289" cy="38431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12924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Image 13">
            <a:extLst>
              <a:ext uri="{FF2B5EF4-FFF2-40B4-BE49-F238E27FC236}">
                <a16:creationId xmlns:a16="http://schemas.microsoft.com/office/drawing/2014/main" id="{3E04BF5A-062A-BAF8-E627-3E5B30BC05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ZoneTexte 1">
            <a:extLst>
              <a:ext uri="{FF2B5EF4-FFF2-40B4-BE49-F238E27FC236}">
                <a16:creationId xmlns:a16="http://schemas.microsoft.com/office/drawing/2014/main" id="{D71E798A-0424-EB7E-8603-BD6F4A38A24D}"/>
              </a:ext>
            </a:extLst>
          </p:cNvPr>
          <p:cNvSpPr txBox="1"/>
          <p:nvPr/>
        </p:nvSpPr>
        <p:spPr>
          <a:xfrm>
            <a:off x="785810" y="300038"/>
            <a:ext cx="1065847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200" b="1" dirty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Pourquoi Devolutions?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2CE48D02-4605-4D0C-8CEF-0737023E8FBE}"/>
              </a:ext>
            </a:extLst>
          </p:cNvPr>
          <p:cNvSpPr txBox="1"/>
          <p:nvPr/>
        </p:nvSpPr>
        <p:spPr>
          <a:xfrm>
            <a:off x="785811" y="1887168"/>
            <a:ext cx="10229850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Pourquoi notre PAM est-il meilleur que les compétiteurs?</a:t>
            </a:r>
          </a:p>
          <a:p>
            <a:r>
              <a:rPr lang="en-US" sz="2000" i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Why is our PAM better than the competition?</a:t>
            </a:r>
            <a:endParaRPr lang="fr-FR" sz="2400" i="1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endParaRPr lang="fr-FR" sz="24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fr-FR" sz="2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Prix – Pour les PME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fr-FR" sz="2000" i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Price – </a:t>
            </a:r>
            <a:r>
              <a:rPr lang="fr-FR" sz="2000" i="1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Designed</a:t>
            </a:r>
            <a:r>
              <a:rPr lang="fr-FR" sz="2000" i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for </a:t>
            </a:r>
            <a:r>
              <a:rPr lang="fr-FR" sz="2000" i="1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SMBs</a:t>
            </a:r>
            <a:endParaRPr lang="fr-FR" sz="2000" i="1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fr-FR" sz="2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Déploiement – Jours (ou heures) vs. Semaine / mois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US" sz="2000" i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Deployment – Completed in days (or even hours) instead of weeks or months</a:t>
            </a:r>
            <a:endParaRPr lang="fr-FR" sz="2000" i="1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fr-FR" sz="2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Utilisation – Simple, « Straight-to-the-point »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US" sz="2000" i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Ease of use – Simple and straight to the point</a:t>
            </a:r>
            <a:endParaRPr lang="fr-FR" sz="2400" i="1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fr-FR" sz="24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fr-FR" sz="24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fr-FR" sz="2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Et l’ultime raison: 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fr-FR" sz="2000" i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And the </a:t>
            </a:r>
            <a:r>
              <a:rPr lang="fr-FR" sz="2000" i="1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ultimate</a:t>
            </a:r>
            <a:r>
              <a:rPr lang="fr-FR" sz="2000" i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fr-FR" sz="2000" i="1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reason</a:t>
            </a:r>
            <a:r>
              <a:rPr lang="fr-FR" sz="2000" i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:</a:t>
            </a:r>
          </a:p>
          <a:p>
            <a:pPr marL="1714500" lvl="3" indent="-342900">
              <a:buFont typeface="Arial" panose="020B0604020202020204" pitchFamily="34" charset="0"/>
              <a:buChar char="•"/>
            </a:pPr>
            <a:r>
              <a:rPr lang="fr-FR" sz="2400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Remote</a:t>
            </a:r>
            <a:r>
              <a:rPr lang="fr-FR" sz="2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Desktop Manager</a:t>
            </a:r>
          </a:p>
        </p:txBody>
      </p:sp>
    </p:spTree>
    <p:extLst>
      <p:ext uri="{BB962C8B-B14F-4D97-AF65-F5344CB8AC3E}">
        <p14:creationId xmlns:p14="http://schemas.microsoft.com/office/powerpoint/2010/main" val="8414516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 6">
            <a:extLst>
              <a:ext uri="{FF2B5EF4-FFF2-40B4-BE49-F238E27FC236}">
                <a16:creationId xmlns:a16="http://schemas.microsoft.com/office/drawing/2014/main" id="{020133C8-02F3-5292-350B-BA213CA1EB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8" cy="6857999"/>
          </a:xfrm>
          <a:prstGeom prst="rect">
            <a:avLst/>
          </a:prstGeom>
        </p:spPr>
      </p:pic>
      <p:sp>
        <p:nvSpPr>
          <p:cNvPr id="2" name="ZoneTexte 1">
            <a:extLst>
              <a:ext uri="{FF2B5EF4-FFF2-40B4-BE49-F238E27FC236}">
                <a16:creationId xmlns:a16="http://schemas.microsoft.com/office/drawing/2014/main" id="{6DB2C3E3-B47C-A9F7-738E-728BD8BF9B3C}"/>
              </a:ext>
            </a:extLst>
          </p:cNvPr>
          <p:cNvSpPr txBox="1"/>
          <p:nvPr/>
        </p:nvSpPr>
        <p:spPr>
          <a:xfrm>
            <a:off x="3481386" y="1256391"/>
            <a:ext cx="522922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Questions?</a:t>
            </a:r>
          </a:p>
        </p:txBody>
      </p:sp>
    </p:spTree>
    <p:extLst>
      <p:ext uri="{BB962C8B-B14F-4D97-AF65-F5344CB8AC3E}">
        <p14:creationId xmlns:p14="http://schemas.microsoft.com/office/powerpoint/2010/main" val="1541051253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5612</TotalTime>
  <Words>490</Words>
  <Application>Microsoft Office PowerPoint</Application>
  <PresentationFormat>Widescreen</PresentationFormat>
  <Paragraphs>74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Aptos</vt:lpstr>
      <vt:lpstr>Aptos Display</vt:lpstr>
      <vt:lpstr>Arial</vt:lpstr>
      <vt:lpstr>Open Sans</vt:lpstr>
      <vt:lpstr>Thème Office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Isabel Desrochers</dc:creator>
  <cp:lastModifiedBy>Yannick Leblanc</cp:lastModifiedBy>
  <cp:revision>8</cp:revision>
  <dcterms:created xsi:type="dcterms:W3CDTF">2024-04-12T15:01:17Z</dcterms:created>
  <dcterms:modified xsi:type="dcterms:W3CDTF">2025-04-03T17:11:54Z</dcterms:modified>
</cp:coreProperties>
</file>